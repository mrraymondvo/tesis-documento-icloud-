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8" r:id="rId13"/>
    <p:sldId id="269" r:id="rId14"/>
    <p:sldId id="270" r:id="rId15"/>
    <p:sldId id="271" r:id="rId16"/>
    <p:sldId id="273" r:id="rId17"/>
    <p:sldId id="274" r:id="rId18"/>
    <p:sldId id="272" r:id="rId19"/>
  </p:sldIdLst>
  <p:sldSz cx="9144000" cy="6858000" type="screen4x3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E59"/>
    <a:srgbClr val="94B8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67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4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2B29A3-7939-4D8D-BF7D-B5B6B6C6085F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9244063-7CBC-4297-AAF0-4F87CBDBDF09}">
      <dgm:prSet phldrT="[Texto]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ES" u="none"/>
            <a:t>Principales características</a:t>
          </a:r>
        </a:p>
      </dgm:t>
    </dgm:pt>
    <dgm:pt modelId="{CFCB9AC6-A4A6-4FBA-BE50-667659162C3A}" type="parTrans" cxnId="{619B0BFA-CFD0-4924-8802-4EC94082A02A}">
      <dgm:prSet/>
      <dgm:spPr/>
      <dgm:t>
        <a:bodyPr/>
        <a:lstStyle/>
        <a:p>
          <a:endParaRPr lang="es-ES" u="none"/>
        </a:p>
      </dgm:t>
    </dgm:pt>
    <dgm:pt modelId="{57B13D5A-DE69-49DB-AFD6-90A96FCF6E5A}" type="sibTrans" cxnId="{619B0BFA-CFD0-4924-8802-4EC94082A02A}">
      <dgm:prSet/>
      <dgm:spPr/>
      <dgm:t>
        <a:bodyPr/>
        <a:lstStyle/>
        <a:p>
          <a:endParaRPr lang="es-ES" u="none"/>
        </a:p>
      </dgm:t>
    </dgm:pt>
    <dgm:pt modelId="{900F7D61-4A53-4E01-81A6-245ABBD01B20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Portable</a:t>
          </a:r>
        </a:p>
      </dgm:t>
    </dgm:pt>
    <dgm:pt modelId="{F6188DC6-9577-498A-8811-B8153914C994}" type="parTrans" cxnId="{03746A84-8E87-460C-8C97-DCF5CD94B882}">
      <dgm:prSet/>
      <dgm:spPr/>
      <dgm:t>
        <a:bodyPr/>
        <a:lstStyle/>
        <a:p>
          <a:endParaRPr lang="es-ES" u="none"/>
        </a:p>
      </dgm:t>
    </dgm:pt>
    <dgm:pt modelId="{53CFA882-C318-4A94-91DC-E74B765D6326}" type="sibTrans" cxnId="{03746A84-8E87-460C-8C97-DCF5CD94B882}">
      <dgm:prSet/>
      <dgm:spPr/>
      <dgm:t>
        <a:bodyPr/>
        <a:lstStyle/>
        <a:p>
          <a:endParaRPr lang="es-ES" u="none"/>
        </a:p>
      </dgm:t>
    </dgm:pt>
    <dgm:pt modelId="{5C9A5182-1775-495B-841A-864CF6846139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Interoperable</a:t>
          </a:r>
        </a:p>
      </dgm:t>
    </dgm:pt>
    <dgm:pt modelId="{E54255EF-0E27-4DBA-AB7F-B80ABF0AFE7C}" type="parTrans" cxnId="{67DA6D93-6014-4518-BACD-58E852F02E94}">
      <dgm:prSet/>
      <dgm:spPr/>
      <dgm:t>
        <a:bodyPr/>
        <a:lstStyle/>
        <a:p>
          <a:endParaRPr lang="es-ES" u="none"/>
        </a:p>
      </dgm:t>
    </dgm:pt>
    <dgm:pt modelId="{28BC3C6A-E371-4F23-A56C-D77ECCD4D860}" type="sibTrans" cxnId="{67DA6D93-6014-4518-BACD-58E852F02E94}">
      <dgm:prSet/>
      <dgm:spPr/>
      <dgm:t>
        <a:bodyPr/>
        <a:lstStyle/>
        <a:p>
          <a:endParaRPr lang="es-ES" u="none"/>
        </a:p>
      </dgm:t>
    </dgm:pt>
    <dgm:pt modelId="{9EBFE581-D93E-40F9-A134-0FE760E4FB2D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Genérico</a:t>
          </a:r>
        </a:p>
      </dgm:t>
    </dgm:pt>
    <dgm:pt modelId="{BE725749-23BF-4F15-90D3-DF59DFFA2B21}" type="parTrans" cxnId="{084B1905-26AE-4346-8132-811CB7F86F9E}">
      <dgm:prSet/>
      <dgm:spPr/>
      <dgm:t>
        <a:bodyPr/>
        <a:lstStyle/>
        <a:p>
          <a:endParaRPr lang="es-ES" u="none"/>
        </a:p>
      </dgm:t>
    </dgm:pt>
    <dgm:pt modelId="{46B68E03-7839-4061-BFD0-AF961FE3F43D}" type="sibTrans" cxnId="{084B1905-26AE-4346-8132-811CB7F86F9E}">
      <dgm:prSet/>
      <dgm:spPr/>
      <dgm:t>
        <a:bodyPr/>
        <a:lstStyle/>
        <a:p>
          <a:endParaRPr lang="es-ES" u="none"/>
        </a:p>
      </dgm:t>
    </dgm:pt>
    <dgm:pt modelId="{F52286FD-7374-49D0-AF08-05546FE75319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Código</a:t>
          </a:r>
          <a:r>
            <a:rPr lang="es-ES" sz="1800" u="none"/>
            <a:t> </a:t>
          </a:r>
          <a:r>
            <a:rPr lang="es-ES" sz="1800" b="1" u="none"/>
            <a:t>abierto</a:t>
          </a:r>
        </a:p>
      </dgm:t>
    </dgm:pt>
    <dgm:pt modelId="{495B4146-DE46-42AB-800B-ADF25BE44971}" type="parTrans" cxnId="{5A6FBF77-8FED-4B67-BE8D-74D033379100}">
      <dgm:prSet/>
      <dgm:spPr/>
      <dgm:t>
        <a:bodyPr/>
        <a:lstStyle/>
        <a:p>
          <a:endParaRPr lang="es-ES" u="none"/>
        </a:p>
      </dgm:t>
    </dgm:pt>
    <dgm:pt modelId="{732A4D74-3FBA-4833-803A-439F642D9B9E}" type="sibTrans" cxnId="{5A6FBF77-8FED-4B67-BE8D-74D033379100}">
      <dgm:prSet/>
      <dgm:spPr/>
      <dgm:t>
        <a:bodyPr/>
        <a:lstStyle/>
        <a:p>
          <a:endParaRPr lang="es-ES" u="none"/>
        </a:p>
      </dgm:t>
    </dgm:pt>
    <dgm:pt modelId="{DE47F36A-D7F7-4839-AB78-E712F434EF6E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Paralelo</a:t>
          </a:r>
        </a:p>
      </dgm:t>
    </dgm:pt>
    <dgm:pt modelId="{298A4972-F079-4008-BAE1-57951C1AA64E}" type="parTrans" cxnId="{B41E58A9-7C48-4A86-ADC8-F5DCAA2477AC}">
      <dgm:prSet/>
      <dgm:spPr/>
      <dgm:t>
        <a:bodyPr/>
        <a:lstStyle/>
        <a:p>
          <a:endParaRPr lang="es-ES"/>
        </a:p>
      </dgm:t>
    </dgm:pt>
    <dgm:pt modelId="{BB8B0422-6D35-478A-AEA2-00AEC45B86AE}" type="sibTrans" cxnId="{B41E58A9-7C48-4A86-ADC8-F5DCAA2477AC}">
      <dgm:prSet/>
      <dgm:spPr/>
      <dgm:t>
        <a:bodyPr/>
        <a:lstStyle/>
        <a:p>
          <a:endParaRPr lang="es-ES"/>
        </a:p>
      </dgm:t>
    </dgm:pt>
    <dgm:pt modelId="{D232896C-8FB4-451B-9EAD-5CCEBCC118B4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Distribuido</a:t>
          </a:r>
        </a:p>
      </dgm:t>
    </dgm:pt>
    <dgm:pt modelId="{87BEEB2B-59F7-4604-A7BB-7E05B4976099}" type="parTrans" cxnId="{3E982BCC-68CB-4058-9DDD-F06BABB0F782}">
      <dgm:prSet/>
      <dgm:spPr/>
      <dgm:t>
        <a:bodyPr/>
        <a:lstStyle/>
        <a:p>
          <a:endParaRPr lang="es-ES"/>
        </a:p>
      </dgm:t>
    </dgm:pt>
    <dgm:pt modelId="{BBF9CF99-34B9-4AE9-A4F6-B141D0BCA461}" type="sibTrans" cxnId="{3E982BCC-68CB-4058-9DDD-F06BABB0F782}">
      <dgm:prSet/>
      <dgm:spPr/>
      <dgm:t>
        <a:bodyPr/>
        <a:lstStyle/>
        <a:p>
          <a:endParaRPr lang="es-ES"/>
        </a:p>
      </dgm:t>
    </dgm:pt>
    <dgm:pt modelId="{A1D6BBFA-4FDF-4537-8D24-AF4C29C883B7}">
      <dgm:prSet phldrT="[Texto]" custT="1"/>
      <dgm:spPr>
        <a:solidFill>
          <a:srgbClr val="FFECB7"/>
        </a:solidFill>
      </dgm:spPr>
      <dgm:t>
        <a:bodyPr/>
        <a:lstStyle/>
        <a:p>
          <a:endParaRPr lang="es-ES" sz="1800" b="1" u="none" dirty="0"/>
        </a:p>
      </dgm:t>
    </dgm:pt>
    <dgm:pt modelId="{6B6A46F3-AD46-47B1-A5FA-2A51C19399A4}" type="parTrans" cxnId="{4BADC544-47B6-4D57-BB76-E3632CB90991}">
      <dgm:prSet/>
      <dgm:spPr/>
      <dgm:t>
        <a:bodyPr/>
        <a:lstStyle/>
        <a:p>
          <a:endParaRPr lang="es-ES"/>
        </a:p>
      </dgm:t>
    </dgm:pt>
    <dgm:pt modelId="{4E0B06E9-556E-46DA-B254-9B6D8DFB49EC}" type="sibTrans" cxnId="{4BADC544-47B6-4D57-BB76-E3632CB90991}">
      <dgm:prSet/>
      <dgm:spPr/>
      <dgm:t>
        <a:bodyPr/>
        <a:lstStyle/>
        <a:p>
          <a:endParaRPr lang="es-ES"/>
        </a:p>
      </dgm:t>
    </dgm:pt>
    <dgm:pt modelId="{560C522B-98EF-4B46-A7EB-7FE54AD75C06}">
      <dgm:prSet phldrT="[Texto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accent5"/>
          </a:solidFill>
        </a:ln>
      </dgm:spPr>
      <dgm:t>
        <a:bodyPr/>
        <a:lstStyle/>
        <a:p>
          <a:r>
            <a:rPr lang="es-ES" sz="1800" b="1" u="none"/>
            <a:t>Escalable</a:t>
          </a:r>
        </a:p>
      </dgm:t>
    </dgm:pt>
    <dgm:pt modelId="{B2CF30F2-4B42-4849-AA74-0A6981B7C385}" type="sibTrans" cxnId="{F7C5F0D0-CA51-4263-BF76-C26F78AA9DF8}">
      <dgm:prSet/>
      <dgm:spPr/>
      <dgm:t>
        <a:bodyPr/>
        <a:lstStyle/>
        <a:p>
          <a:endParaRPr lang="es-ES" u="none"/>
        </a:p>
      </dgm:t>
    </dgm:pt>
    <dgm:pt modelId="{DB93E888-A8EF-485A-8604-BD98BFB51DF7}" type="parTrans" cxnId="{F7C5F0D0-CA51-4263-BF76-C26F78AA9DF8}">
      <dgm:prSet/>
      <dgm:spPr/>
      <dgm:t>
        <a:bodyPr/>
        <a:lstStyle/>
        <a:p>
          <a:endParaRPr lang="es-ES" u="none"/>
        </a:p>
      </dgm:t>
    </dgm:pt>
    <dgm:pt modelId="{7AFB7A3A-61A0-4625-9AF9-F5E02FA214F8}" type="pres">
      <dgm:prSet presAssocID="{C62B29A3-7939-4D8D-BF7D-B5B6B6C6085F}" presName="composite" presStyleCnt="0">
        <dgm:presLayoutVars>
          <dgm:chMax val="1"/>
          <dgm:dir/>
          <dgm:resizeHandles val="exact"/>
        </dgm:presLayoutVars>
      </dgm:prSet>
      <dgm:spPr/>
    </dgm:pt>
    <dgm:pt modelId="{805120B6-95CE-421F-99B3-7AB65F2CF0E4}" type="pres">
      <dgm:prSet presAssocID="{C62B29A3-7939-4D8D-BF7D-B5B6B6C6085F}" presName="radial" presStyleCnt="0">
        <dgm:presLayoutVars>
          <dgm:animLvl val="ctr"/>
        </dgm:presLayoutVars>
      </dgm:prSet>
      <dgm:spPr/>
    </dgm:pt>
    <dgm:pt modelId="{A07F1EA9-F85D-4253-A771-E8B98E6599CF}" type="pres">
      <dgm:prSet presAssocID="{39244063-7CBC-4297-AAF0-4F87CBDBDF09}" presName="centerShape" presStyleLbl="vennNode1" presStyleIdx="0" presStyleCnt="8" custScaleX="111654" custScaleY="103296" custLinFactNeighborY="-1738"/>
      <dgm:spPr/>
    </dgm:pt>
    <dgm:pt modelId="{8A082523-CF76-48D3-BDE7-81AF9F4A519C}" type="pres">
      <dgm:prSet presAssocID="{900F7D61-4A53-4E01-81A6-245ABBD01B20}" presName="node" presStyleLbl="vennNode1" presStyleIdx="1" presStyleCnt="8" custScaleX="107866" custRadScaleRad="95708" custRadScaleInc="1532">
        <dgm:presLayoutVars>
          <dgm:bulletEnabled val="1"/>
        </dgm:presLayoutVars>
      </dgm:prSet>
      <dgm:spPr/>
    </dgm:pt>
    <dgm:pt modelId="{E4A72E98-504B-446F-A92F-88CC4C53C41B}" type="pres">
      <dgm:prSet presAssocID="{560C522B-98EF-4B46-A7EB-7FE54AD75C06}" presName="node" presStyleLbl="vennNode1" presStyleIdx="2" presStyleCnt="8" custRadScaleRad="119953" custRadScaleInc="11798">
        <dgm:presLayoutVars>
          <dgm:bulletEnabled val="1"/>
        </dgm:presLayoutVars>
      </dgm:prSet>
      <dgm:spPr/>
    </dgm:pt>
    <dgm:pt modelId="{DA078B88-CE0F-4D8B-B292-48CD8644AC40}" type="pres">
      <dgm:prSet presAssocID="{5C9A5182-1775-495B-841A-864CF6846139}" presName="node" presStyleLbl="vennNode1" presStyleIdx="3" presStyleCnt="8" custScaleX="133561" custScaleY="100995" custRadScaleRad="130347" custRadScaleInc="-8280">
        <dgm:presLayoutVars>
          <dgm:bulletEnabled val="1"/>
        </dgm:presLayoutVars>
      </dgm:prSet>
      <dgm:spPr/>
    </dgm:pt>
    <dgm:pt modelId="{372C75F1-E0FA-42B3-9CCF-A90EC7BA3AE0}" type="pres">
      <dgm:prSet presAssocID="{9EBFE581-D93E-40F9-A134-0FE760E4FB2D}" presName="node" presStyleLbl="vennNode1" presStyleIdx="4" presStyleCnt="8" custScaleX="105793" custRadScaleRad="112529" custRadScaleInc="-15494">
        <dgm:presLayoutVars>
          <dgm:bulletEnabled val="1"/>
        </dgm:presLayoutVars>
      </dgm:prSet>
      <dgm:spPr/>
    </dgm:pt>
    <dgm:pt modelId="{400E9DC9-39DC-4A46-AEB2-0DB37D70A22B}" type="pres">
      <dgm:prSet presAssocID="{F52286FD-7374-49D0-AF08-05546FE75319}" presName="node" presStyleLbl="vennNode1" presStyleIdx="5" presStyleCnt="8" custRadScaleRad="105015" custRadScaleInc="2339">
        <dgm:presLayoutVars>
          <dgm:bulletEnabled val="1"/>
        </dgm:presLayoutVars>
      </dgm:prSet>
      <dgm:spPr/>
    </dgm:pt>
    <dgm:pt modelId="{023EEF0F-906F-4F0D-ADA4-B322E27515B2}" type="pres">
      <dgm:prSet presAssocID="{DE47F36A-D7F7-4839-AB78-E712F434EF6E}" presName="node" presStyleLbl="vennNode1" presStyleIdx="6" presStyleCnt="8" custScaleX="102445" custRadScaleRad="118986" custRadScaleInc="518">
        <dgm:presLayoutVars>
          <dgm:bulletEnabled val="1"/>
        </dgm:presLayoutVars>
      </dgm:prSet>
      <dgm:spPr/>
    </dgm:pt>
    <dgm:pt modelId="{83E4F76A-F258-4BEA-B563-09E30B5D3E1A}" type="pres">
      <dgm:prSet presAssocID="{D232896C-8FB4-451B-9EAD-5CCEBCC118B4}" presName="node" presStyleLbl="vennNode1" presStyleIdx="7" presStyleCnt="8" custScaleX="115541" custRadScaleRad="123956" custRadScaleInc="-17635">
        <dgm:presLayoutVars>
          <dgm:bulletEnabled val="1"/>
        </dgm:presLayoutVars>
      </dgm:prSet>
      <dgm:spPr/>
    </dgm:pt>
  </dgm:ptLst>
  <dgm:cxnLst>
    <dgm:cxn modelId="{084B1905-26AE-4346-8132-811CB7F86F9E}" srcId="{39244063-7CBC-4297-AAF0-4F87CBDBDF09}" destId="{9EBFE581-D93E-40F9-A134-0FE760E4FB2D}" srcOrd="3" destOrd="0" parTransId="{BE725749-23BF-4F15-90D3-DF59DFFA2B21}" sibTransId="{46B68E03-7839-4061-BFD0-AF961FE3F43D}"/>
    <dgm:cxn modelId="{0920970E-156E-4273-B577-4F45F34FD537}" type="presOf" srcId="{900F7D61-4A53-4E01-81A6-245ABBD01B20}" destId="{8A082523-CF76-48D3-BDE7-81AF9F4A519C}" srcOrd="0" destOrd="0" presId="urn:microsoft.com/office/officeart/2005/8/layout/radial3"/>
    <dgm:cxn modelId="{1D164E35-6A25-4C2C-A8FA-FEB82F3134BE}" type="presOf" srcId="{39244063-7CBC-4297-AAF0-4F87CBDBDF09}" destId="{A07F1EA9-F85D-4253-A771-E8B98E6599CF}" srcOrd="0" destOrd="0" presId="urn:microsoft.com/office/officeart/2005/8/layout/radial3"/>
    <dgm:cxn modelId="{4BADC544-47B6-4D57-BB76-E3632CB90991}" srcId="{C62B29A3-7939-4D8D-BF7D-B5B6B6C6085F}" destId="{A1D6BBFA-4FDF-4537-8D24-AF4C29C883B7}" srcOrd="1" destOrd="0" parTransId="{6B6A46F3-AD46-47B1-A5FA-2A51C19399A4}" sibTransId="{4E0B06E9-556E-46DA-B254-9B6D8DFB49EC}"/>
    <dgm:cxn modelId="{6C1A574A-25E8-443B-AE87-6A1AB296B945}" type="presOf" srcId="{9EBFE581-D93E-40F9-A134-0FE760E4FB2D}" destId="{372C75F1-E0FA-42B3-9CCF-A90EC7BA3AE0}" srcOrd="0" destOrd="0" presId="urn:microsoft.com/office/officeart/2005/8/layout/radial3"/>
    <dgm:cxn modelId="{C03C4E5E-AAC0-4FED-AA82-CF08094B6CE1}" type="presOf" srcId="{DE47F36A-D7F7-4839-AB78-E712F434EF6E}" destId="{023EEF0F-906F-4F0D-ADA4-B322E27515B2}" srcOrd="0" destOrd="0" presId="urn:microsoft.com/office/officeart/2005/8/layout/radial3"/>
    <dgm:cxn modelId="{5A6FBF77-8FED-4B67-BE8D-74D033379100}" srcId="{39244063-7CBC-4297-AAF0-4F87CBDBDF09}" destId="{F52286FD-7374-49D0-AF08-05546FE75319}" srcOrd="4" destOrd="0" parTransId="{495B4146-DE46-42AB-800B-ADF25BE44971}" sibTransId="{732A4D74-3FBA-4833-803A-439F642D9B9E}"/>
    <dgm:cxn modelId="{ECBF8F79-0234-4C49-920E-768816AEFFC4}" type="presOf" srcId="{5C9A5182-1775-495B-841A-864CF6846139}" destId="{DA078B88-CE0F-4D8B-B292-48CD8644AC40}" srcOrd="0" destOrd="0" presId="urn:microsoft.com/office/officeart/2005/8/layout/radial3"/>
    <dgm:cxn modelId="{03746A84-8E87-460C-8C97-DCF5CD94B882}" srcId="{39244063-7CBC-4297-AAF0-4F87CBDBDF09}" destId="{900F7D61-4A53-4E01-81A6-245ABBD01B20}" srcOrd="0" destOrd="0" parTransId="{F6188DC6-9577-498A-8811-B8153914C994}" sibTransId="{53CFA882-C318-4A94-91DC-E74B765D6326}"/>
    <dgm:cxn modelId="{B2F03A92-F4F0-46F2-93BB-1D1083336A6D}" type="presOf" srcId="{560C522B-98EF-4B46-A7EB-7FE54AD75C06}" destId="{E4A72E98-504B-446F-A92F-88CC4C53C41B}" srcOrd="0" destOrd="0" presId="urn:microsoft.com/office/officeart/2005/8/layout/radial3"/>
    <dgm:cxn modelId="{67DA6D93-6014-4518-BACD-58E852F02E94}" srcId="{39244063-7CBC-4297-AAF0-4F87CBDBDF09}" destId="{5C9A5182-1775-495B-841A-864CF6846139}" srcOrd="2" destOrd="0" parTransId="{E54255EF-0E27-4DBA-AB7F-B80ABF0AFE7C}" sibTransId="{28BC3C6A-E371-4F23-A56C-D77ECCD4D860}"/>
    <dgm:cxn modelId="{B41E58A9-7C48-4A86-ADC8-F5DCAA2477AC}" srcId="{39244063-7CBC-4297-AAF0-4F87CBDBDF09}" destId="{DE47F36A-D7F7-4839-AB78-E712F434EF6E}" srcOrd="5" destOrd="0" parTransId="{298A4972-F079-4008-BAE1-57951C1AA64E}" sibTransId="{BB8B0422-6D35-478A-AEA2-00AEC45B86AE}"/>
    <dgm:cxn modelId="{F18C74B1-93B4-4976-BC13-337A07EF3682}" type="presOf" srcId="{D232896C-8FB4-451B-9EAD-5CCEBCC118B4}" destId="{83E4F76A-F258-4BEA-B563-09E30B5D3E1A}" srcOrd="0" destOrd="0" presId="urn:microsoft.com/office/officeart/2005/8/layout/radial3"/>
    <dgm:cxn modelId="{3E982BCC-68CB-4058-9DDD-F06BABB0F782}" srcId="{39244063-7CBC-4297-AAF0-4F87CBDBDF09}" destId="{D232896C-8FB4-451B-9EAD-5CCEBCC118B4}" srcOrd="6" destOrd="0" parTransId="{87BEEB2B-59F7-4604-A7BB-7E05B4976099}" sibTransId="{BBF9CF99-34B9-4AE9-A4F6-B141D0BCA461}"/>
    <dgm:cxn modelId="{F7C5F0D0-CA51-4263-BF76-C26F78AA9DF8}" srcId="{39244063-7CBC-4297-AAF0-4F87CBDBDF09}" destId="{560C522B-98EF-4B46-A7EB-7FE54AD75C06}" srcOrd="1" destOrd="0" parTransId="{DB93E888-A8EF-485A-8604-BD98BFB51DF7}" sibTransId="{B2CF30F2-4B42-4849-AA74-0A6981B7C385}"/>
    <dgm:cxn modelId="{FECB0CE7-6147-4BB5-98B1-6B749AC8406E}" type="presOf" srcId="{C62B29A3-7939-4D8D-BF7D-B5B6B6C6085F}" destId="{7AFB7A3A-61A0-4625-9AF9-F5E02FA214F8}" srcOrd="0" destOrd="0" presId="urn:microsoft.com/office/officeart/2005/8/layout/radial3"/>
    <dgm:cxn modelId="{E03C62F9-250F-42B3-AD7B-B8F26565A399}" type="presOf" srcId="{F52286FD-7374-49D0-AF08-05546FE75319}" destId="{400E9DC9-39DC-4A46-AEB2-0DB37D70A22B}" srcOrd="0" destOrd="0" presId="urn:microsoft.com/office/officeart/2005/8/layout/radial3"/>
    <dgm:cxn modelId="{619B0BFA-CFD0-4924-8802-4EC94082A02A}" srcId="{C62B29A3-7939-4D8D-BF7D-B5B6B6C6085F}" destId="{39244063-7CBC-4297-AAF0-4F87CBDBDF09}" srcOrd="0" destOrd="0" parTransId="{CFCB9AC6-A4A6-4FBA-BE50-667659162C3A}" sibTransId="{57B13D5A-DE69-49DB-AFD6-90A96FCF6E5A}"/>
    <dgm:cxn modelId="{1CEDCCD0-317A-41D4-9D3D-B20AE7FA6C4E}" type="presParOf" srcId="{7AFB7A3A-61A0-4625-9AF9-F5E02FA214F8}" destId="{805120B6-95CE-421F-99B3-7AB65F2CF0E4}" srcOrd="0" destOrd="0" presId="urn:microsoft.com/office/officeart/2005/8/layout/radial3"/>
    <dgm:cxn modelId="{D408E689-4D4B-438B-82B1-7A95E3B1A63F}" type="presParOf" srcId="{805120B6-95CE-421F-99B3-7AB65F2CF0E4}" destId="{A07F1EA9-F85D-4253-A771-E8B98E6599CF}" srcOrd="0" destOrd="0" presId="urn:microsoft.com/office/officeart/2005/8/layout/radial3"/>
    <dgm:cxn modelId="{626B04FA-3B74-4462-972A-615A70E24AD5}" type="presParOf" srcId="{805120B6-95CE-421F-99B3-7AB65F2CF0E4}" destId="{8A082523-CF76-48D3-BDE7-81AF9F4A519C}" srcOrd="1" destOrd="0" presId="urn:microsoft.com/office/officeart/2005/8/layout/radial3"/>
    <dgm:cxn modelId="{B470844F-C177-4899-978B-BB42C0DEACFF}" type="presParOf" srcId="{805120B6-95CE-421F-99B3-7AB65F2CF0E4}" destId="{E4A72E98-504B-446F-A92F-88CC4C53C41B}" srcOrd="2" destOrd="0" presId="urn:microsoft.com/office/officeart/2005/8/layout/radial3"/>
    <dgm:cxn modelId="{B98A3048-9ACB-4EE6-83DC-6EFBA5189749}" type="presParOf" srcId="{805120B6-95CE-421F-99B3-7AB65F2CF0E4}" destId="{DA078B88-CE0F-4D8B-B292-48CD8644AC40}" srcOrd="3" destOrd="0" presId="urn:microsoft.com/office/officeart/2005/8/layout/radial3"/>
    <dgm:cxn modelId="{3B240B76-C3B7-4B7A-8EA5-35265CDFF436}" type="presParOf" srcId="{805120B6-95CE-421F-99B3-7AB65F2CF0E4}" destId="{372C75F1-E0FA-42B3-9CCF-A90EC7BA3AE0}" srcOrd="4" destOrd="0" presId="urn:microsoft.com/office/officeart/2005/8/layout/radial3"/>
    <dgm:cxn modelId="{C64C722F-611C-4183-9A64-D9FF00D1D9EB}" type="presParOf" srcId="{805120B6-95CE-421F-99B3-7AB65F2CF0E4}" destId="{400E9DC9-39DC-4A46-AEB2-0DB37D70A22B}" srcOrd="5" destOrd="0" presId="urn:microsoft.com/office/officeart/2005/8/layout/radial3"/>
    <dgm:cxn modelId="{10E4C1AD-2564-4373-B223-335EDCFF6CC5}" type="presParOf" srcId="{805120B6-95CE-421F-99B3-7AB65F2CF0E4}" destId="{023EEF0F-906F-4F0D-ADA4-B322E27515B2}" srcOrd="6" destOrd="0" presId="urn:microsoft.com/office/officeart/2005/8/layout/radial3"/>
    <dgm:cxn modelId="{E16690A1-32E7-44F1-A031-D9A7554F49CD}" type="presParOf" srcId="{805120B6-95CE-421F-99B3-7AB65F2CF0E4}" destId="{83E4F76A-F258-4BEA-B563-09E30B5D3E1A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F1EA9-F85D-4253-A771-E8B98E6599CF}">
      <dsp:nvSpPr>
        <dsp:cNvPr id="0" name=""/>
        <dsp:cNvSpPr/>
      </dsp:nvSpPr>
      <dsp:spPr>
        <a:xfrm>
          <a:off x="2716054" y="1181126"/>
          <a:ext cx="3480096" cy="3219589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u="none" kern="1200"/>
            <a:t>Principales características</a:t>
          </a:r>
        </a:p>
      </dsp:txBody>
      <dsp:txXfrm>
        <a:off x="3225702" y="1652624"/>
        <a:ext cx="2460800" cy="2276593"/>
      </dsp:txXfrm>
    </dsp:sp>
    <dsp:sp modelId="{8A082523-CF76-48D3-BDE7-81AF9F4A519C}">
      <dsp:nvSpPr>
        <dsp:cNvPr id="0" name=""/>
        <dsp:cNvSpPr/>
      </dsp:nvSpPr>
      <dsp:spPr>
        <a:xfrm>
          <a:off x="3642323" y="138717"/>
          <a:ext cx="1681014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Portable</a:t>
          </a:r>
        </a:p>
      </dsp:txBody>
      <dsp:txXfrm>
        <a:off x="3888502" y="366943"/>
        <a:ext cx="1188656" cy="1101976"/>
      </dsp:txXfrm>
    </dsp:sp>
    <dsp:sp modelId="{E4A72E98-504B-446F-A92F-88CC4C53C41B}">
      <dsp:nvSpPr>
        <dsp:cNvPr id="0" name=""/>
        <dsp:cNvSpPr/>
      </dsp:nvSpPr>
      <dsp:spPr>
        <a:xfrm>
          <a:off x="5731443" y="773209"/>
          <a:ext cx="155842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Escalable</a:t>
          </a:r>
        </a:p>
      </dsp:txBody>
      <dsp:txXfrm>
        <a:off x="5959669" y="1001435"/>
        <a:ext cx="1101976" cy="1101976"/>
      </dsp:txXfrm>
    </dsp:sp>
    <dsp:sp modelId="{DA078B88-CE0F-4D8B-B292-48CD8644AC40}">
      <dsp:nvSpPr>
        <dsp:cNvPr id="0" name=""/>
        <dsp:cNvSpPr/>
      </dsp:nvSpPr>
      <dsp:spPr>
        <a:xfrm>
          <a:off x="6032883" y="2470356"/>
          <a:ext cx="2081453" cy="1573935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Interoperable</a:t>
          </a:r>
        </a:p>
      </dsp:txBody>
      <dsp:txXfrm>
        <a:off x="6337705" y="2700853"/>
        <a:ext cx="1471809" cy="1112941"/>
      </dsp:txXfrm>
    </dsp:sp>
    <dsp:sp modelId="{372C75F1-E0FA-42B3-9CCF-A90EC7BA3AE0}">
      <dsp:nvSpPr>
        <dsp:cNvPr id="0" name=""/>
        <dsp:cNvSpPr/>
      </dsp:nvSpPr>
      <dsp:spPr>
        <a:xfrm>
          <a:off x="4899208" y="3963478"/>
          <a:ext cx="164870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Genérico</a:t>
          </a:r>
        </a:p>
      </dsp:txBody>
      <dsp:txXfrm>
        <a:off x="5140656" y="4191704"/>
        <a:ext cx="1165812" cy="1101976"/>
      </dsp:txXfrm>
    </dsp:sp>
    <dsp:sp modelId="{400E9DC9-39DC-4A46-AEB2-0DB37D70A22B}">
      <dsp:nvSpPr>
        <dsp:cNvPr id="0" name=""/>
        <dsp:cNvSpPr/>
      </dsp:nvSpPr>
      <dsp:spPr>
        <a:xfrm>
          <a:off x="2711369" y="3963478"/>
          <a:ext cx="1558428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Código</a:t>
          </a:r>
          <a:r>
            <a:rPr lang="es-ES" sz="1800" u="none" kern="1200"/>
            <a:t> </a:t>
          </a:r>
          <a:r>
            <a:rPr lang="es-ES" sz="1800" b="1" u="none" kern="1200"/>
            <a:t>abierto</a:t>
          </a:r>
        </a:p>
      </dsp:txBody>
      <dsp:txXfrm>
        <a:off x="2939595" y="4191704"/>
        <a:ext cx="1101976" cy="1101976"/>
      </dsp:txXfrm>
    </dsp:sp>
    <dsp:sp modelId="{023EEF0F-906F-4F0D-ADA4-B322E27515B2}">
      <dsp:nvSpPr>
        <dsp:cNvPr id="0" name=""/>
        <dsp:cNvSpPr/>
      </dsp:nvSpPr>
      <dsp:spPr>
        <a:xfrm>
          <a:off x="1299418" y="2609070"/>
          <a:ext cx="1596532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Paralelo</a:t>
          </a:r>
        </a:p>
      </dsp:txBody>
      <dsp:txXfrm>
        <a:off x="1533225" y="2837296"/>
        <a:ext cx="1128918" cy="1101976"/>
      </dsp:txXfrm>
    </dsp:sp>
    <dsp:sp modelId="{83E4F76A-F258-4BEA-B563-09E30B5D3E1A}">
      <dsp:nvSpPr>
        <dsp:cNvPr id="0" name=""/>
        <dsp:cNvSpPr/>
      </dsp:nvSpPr>
      <dsp:spPr>
        <a:xfrm>
          <a:off x="1364741" y="842565"/>
          <a:ext cx="1800624" cy="1558428"/>
        </a:xfrm>
        <a:prstGeom prst="ellipse">
          <a:avLst/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u="none" kern="1200"/>
            <a:t>Distribuido</a:t>
          </a:r>
        </a:p>
      </dsp:txBody>
      <dsp:txXfrm>
        <a:off x="1628436" y="1070791"/>
        <a:ext cx="1273234" cy="1101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1E7D1-7466-B54D-9CF8-7E12EB8B1F8A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E3A48D-4769-E946-8F0A-127D52893FC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37697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420297-FEF4-2F44-AC30-B641707D6967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175EB-A90B-2F4F-AC35-8A2CDC9AEF2F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756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9FCF9-121B-9D43-AF27-5955A4E1FC67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643E7-0E16-7D4E-8EDF-5C6C31782DD2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97655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2C8FE-35C1-7F49-A712-3E2F13571AC8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04DFA-6762-4A43-B444-A809B6374B07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1705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49631-304C-3E4F-8DF5-F08B53B02944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90225-C3AC-8A48-A0EC-0CB2960AD699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2127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21A72-781B-FD46-BF79-5AB38E8A89C2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1B4E0-4C0F-3F4A-AA4F-DEE4351CADE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67681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F7924-96DE-1247-977E-B4699C8EA4E4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F02DEA-AD84-D447-BDB2-93F96E1F00C1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208904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2B4A9-5D29-B04E-BDFA-19F40D52D65F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5FC68-3EE6-3043-8B0D-8F2E4A417C5C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4342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37F0C-8D78-D84A-AF6F-830CCCE7A7D1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6BE22-47A9-294C-A9FE-AB9086B5C111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44867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16CA2-7DD7-FE40-996A-61CE61171A4B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C857D6-D6F9-7741-8549-A38E3CA9946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11656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74555-DC17-E947-ACA2-F4A25E50D93D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6F42C-AF63-3941-B777-C8C0C30D891B}" type="slidenum">
              <a:rPr lang="es-MX" altLang="x-none"/>
              <a:pPr/>
              <a:t>‹Nº›</a:t>
            </a:fld>
            <a:endParaRPr lang="es-MX" altLang="x-none"/>
          </a:p>
        </p:txBody>
      </p:sp>
    </p:spTree>
    <p:extLst>
      <p:ext uri="{BB962C8B-B14F-4D97-AF65-F5344CB8AC3E}">
        <p14:creationId xmlns:p14="http://schemas.microsoft.com/office/powerpoint/2010/main" val="140581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título del patrón</a:t>
            </a:r>
            <a:endParaRPr lang="en-US" altLang="x-non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Editar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  <a:endParaRPr lang="en-US" alt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0E7CF0B-7149-E947-8D32-1BF4960E9D96}" type="datetimeFigureOut">
              <a:rPr lang="es-MX"/>
              <a:pPr>
                <a:defRPr/>
              </a:pPr>
              <a:t>10/12/18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B9FFD1BC-0A63-484E-BE2F-4BB53CEAF1F3}" type="slidenum">
              <a:rPr lang="es-MX" altLang="x-none"/>
              <a:pPr/>
              <a:t>‹Nº›</a:t>
            </a:fld>
            <a:endParaRPr lang="es-MX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1573213" y="3000375"/>
            <a:ext cx="6172200" cy="1038225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ES" altLang="x-none" sz="2400" dirty="0">
                <a:solidFill>
                  <a:schemeClr val="bg1"/>
                </a:solidFill>
                <a:latin typeface="Museo Sans 900" charset="0"/>
              </a:rPr>
              <a:t>Aplicación web para la realización de experimentos de forma colaborativa en el framework JCLAL</a:t>
            </a:r>
          </a:p>
        </p:txBody>
      </p:sp>
      <p:sp>
        <p:nvSpPr>
          <p:cNvPr id="2051" name="Subtítulo 2"/>
          <p:cNvSpPr>
            <a:spLocks noGrp="1"/>
          </p:cNvSpPr>
          <p:nvPr>
            <p:ph type="subTitle" idx="1"/>
          </p:nvPr>
        </p:nvSpPr>
        <p:spPr>
          <a:xfrm>
            <a:off x="1573213" y="4302125"/>
            <a:ext cx="5715000" cy="7747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TESIS PRESENTADA EN OPCIÓN </a:t>
            </a:r>
          </a:p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AL TÍTULO DE INGENIERO INFORMÁTICO</a:t>
            </a:r>
          </a:p>
        </p:txBody>
      </p:sp>
      <p:sp>
        <p:nvSpPr>
          <p:cNvPr id="2052" name="Subtítulo 2"/>
          <p:cNvSpPr txBox="1">
            <a:spLocks/>
          </p:cNvSpPr>
          <p:nvPr/>
        </p:nvSpPr>
        <p:spPr bwMode="auto">
          <a:xfrm>
            <a:off x="1573213" y="5218113"/>
            <a:ext cx="5715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Autor: Ramón Alejandro Valdés Ochoa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Tutores: M.Sc. Abel A. Fernández Higuera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                M.Sc. Eduardo Pérez Perdomo</a:t>
            </a:r>
          </a:p>
        </p:txBody>
      </p:sp>
      <p:pic>
        <p:nvPicPr>
          <p:cNvPr id="2053" name="Picture 56" descr="D:\Proyectos\Personal\UHo\APLICACIONES\HOJA CARTA\recursos\INFORMATICA MATEMATICA\Hoja-carta-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1">
            <a:extLst>
              <a:ext uri="{FF2B5EF4-FFF2-40B4-BE49-F238E27FC236}">
                <a16:creationId xmlns:a16="http://schemas.microsoft.com/office/drawing/2014/main" id="{45866611-E73E-244D-9C24-C4DD3457F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338" y="2493963"/>
            <a:ext cx="3925887" cy="5238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/>
              <a:t>Machine Learning</a:t>
            </a:r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4D429BA7-F699-C84C-A912-AC8EE24E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9" y="4099980"/>
            <a:ext cx="2077591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>
                <a:solidFill>
                  <a:schemeClr val="tx1">
                    <a:alpha val="40000"/>
                  </a:schemeClr>
                </a:solidFill>
              </a:rPr>
              <a:t>Supervised Learning</a:t>
            </a: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02E779EF-D1E7-5E44-A0BA-CBFA3C993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405" y="4099979"/>
            <a:ext cx="2506166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>
                <a:solidFill>
                  <a:schemeClr val="tx1">
                    <a:alpha val="40000"/>
                  </a:schemeClr>
                </a:solidFill>
              </a:rPr>
              <a:t>Unsupervised Learning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E6A65482-CB8F-CB48-8146-BF5991E51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4099979"/>
            <a:ext cx="1829432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b="1" i="1" dirty="0">
                <a:solidFill>
                  <a:schemeClr val="tx1">
                    <a:alpha val="40000"/>
                  </a:schemeClr>
                </a:solidFill>
              </a:rPr>
              <a:t>Active Learning</a:t>
            </a:r>
          </a:p>
        </p:txBody>
      </p:sp>
      <p:sp>
        <p:nvSpPr>
          <p:cNvPr id="9" name="CuadroTexto 1">
            <a:extLst>
              <a:ext uri="{FF2B5EF4-FFF2-40B4-BE49-F238E27FC236}">
                <a16:creationId xmlns:a16="http://schemas.microsoft.com/office/drawing/2014/main" id="{C167D7F0-903B-EA4D-AC05-55F8CAE9A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412875"/>
            <a:ext cx="3384550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i="1" dirty="0"/>
              <a:t>Artificial Intelligence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0FC6998-260B-F54A-AE65-DF96B048F1FB}"/>
              </a:ext>
            </a:extLst>
          </p:cNvPr>
          <p:cNvCxnSpPr>
            <a:stCxn id="9" idx="2"/>
            <a:endCxn id="5" idx="0"/>
          </p:cNvCxnSpPr>
          <p:nvPr/>
        </p:nvCxnSpPr>
        <p:spPr>
          <a:xfrm>
            <a:off x="4535488" y="1936095"/>
            <a:ext cx="794" cy="5578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EB152AA9-A065-9845-B501-C537CCA6862D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413794" y="1977232"/>
            <a:ext cx="1082675" cy="3163887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98D4AF5-5E3F-A548-B903-AD8B2AF4E63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535488" y="3017838"/>
            <a:ext cx="1587" cy="1082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>
            <a:extLst>
              <a:ext uri="{FF2B5EF4-FFF2-40B4-BE49-F238E27FC236}">
                <a16:creationId xmlns:a16="http://schemas.microsoft.com/office/drawing/2014/main" id="{EC0C4285-E48A-7648-8851-2D93F148AAB7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16200000" flipH="1">
            <a:off x="5658644" y="1896269"/>
            <a:ext cx="1082675" cy="332581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3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7D2A5"/>
                                      </p:to>
                                    </p:animClr>
                                    <p:set>
                                      <p:cBhvr>
                                        <p:cTn id="3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Active Learning (AL)</a:t>
            </a:r>
          </a:p>
        </p:txBody>
      </p:sp>
      <p:grpSp>
        <p:nvGrpSpPr>
          <p:cNvPr id="5" name="Google Shape;75;p16">
            <a:extLst>
              <a:ext uri="{FF2B5EF4-FFF2-40B4-BE49-F238E27FC236}">
                <a16:creationId xmlns:a16="http://schemas.microsoft.com/office/drawing/2014/main" id="{3C4C6AAD-DF7D-444C-90A0-1919B7546C9F}"/>
              </a:ext>
            </a:extLst>
          </p:cNvPr>
          <p:cNvGrpSpPr/>
          <p:nvPr/>
        </p:nvGrpSpPr>
        <p:grpSpPr>
          <a:xfrm>
            <a:off x="2427342" y="1937130"/>
            <a:ext cx="3750546" cy="3567972"/>
            <a:chOff x="2820225" y="891450"/>
            <a:chExt cx="3175200" cy="3175200"/>
          </a:xfrm>
        </p:grpSpPr>
        <p:sp>
          <p:nvSpPr>
            <p:cNvPr id="6" name="Google Shape;76;p16">
              <a:extLst>
                <a:ext uri="{FF2B5EF4-FFF2-40B4-BE49-F238E27FC236}">
                  <a16:creationId xmlns:a16="http://schemas.microsoft.com/office/drawing/2014/main" id="{0B404DDF-2C6C-FF42-A731-E6E9FF3673BC}"/>
                </a:ext>
              </a:extLst>
            </p:cNvPr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name="adj1" fmla="val 5399801"/>
                <a:gd name="adj2" fmla="val 3012680"/>
                <a:gd name="adj3" fmla="val 6939"/>
              </a:avLst>
            </a:prstGeom>
            <a:solidFill>
              <a:srgbClr val="5B9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7;p16">
              <a:extLst>
                <a:ext uri="{FF2B5EF4-FFF2-40B4-BE49-F238E27FC236}">
                  <a16:creationId xmlns:a16="http://schemas.microsoft.com/office/drawing/2014/main" id="{7FCF8863-7D27-734D-8ABA-20D37AA2745C}"/>
                </a:ext>
              </a:extLst>
            </p:cNvPr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5B9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78;p16">
            <a:extLst>
              <a:ext uri="{FF2B5EF4-FFF2-40B4-BE49-F238E27FC236}">
                <a16:creationId xmlns:a16="http://schemas.microsoft.com/office/drawing/2014/main" id="{03F1FBF6-EA40-3648-8F61-9AB1D569F7F7}"/>
              </a:ext>
            </a:extLst>
          </p:cNvPr>
          <p:cNvGrpSpPr/>
          <p:nvPr/>
        </p:nvGrpSpPr>
        <p:grpSpPr>
          <a:xfrm>
            <a:off x="5155904" y="3263141"/>
            <a:ext cx="1337897" cy="709539"/>
            <a:chOff x="5130374" y="2071475"/>
            <a:chExt cx="1332301" cy="631431"/>
          </a:xfrm>
        </p:grpSpPr>
        <p:sp>
          <p:nvSpPr>
            <p:cNvPr id="9" name="Google Shape;79;p16">
              <a:extLst>
                <a:ext uri="{FF2B5EF4-FFF2-40B4-BE49-F238E27FC236}">
                  <a16:creationId xmlns:a16="http://schemas.microsoft.com/office/drawing/2014/main" id="{7B0FBF86-A85D-BC4E-BD36-8B90987AD253}"/>
                </a:ext>
              </a:extLst>
            </p:cNvPr>
            <p:cNvSpPr/>
            <p:nvPr/>
          </p:nvSpPr>
          <p:spPr>
            <a:xfrm>
              <a:off x="5130375" y="2073206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Modelo de aprendizaje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0;p16">
              <a:extLst>
                <a:ext uri="{FF2B5EF4-FFF2-40B4-BE49-F238E27FC236}">
                  <a16:creationId xmlns:a16="http://schemas.microsoft.com/office/drawing/2014/main" id="{26ED5C70-83BA-0640-BDBE-2E3E6372DBA1}"/>
                </a:ext>
              </a:extLst>
            </p:cNvPr>
            <p:cNvSpPr/>
            <p:nvPr/>
          </p:nvSpPr>
          <p:spPr>
            <a:xfrm>
              <a:off x="5130374" y="2071475"/>
              <a:ext cx="1332300" cy="510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81;p16">
            <a:extLst>
              <a:ext uri="{FF2B5EF4-FFF2-40B4-BE49-F238E27FC236}">
                <a16:creationId xmlns:a16="http://schemas.microsoft.com/office/drawing/2014/main" id="{52B0CC45-7D33-5D49-A3BB-B9D8708BAE49}"/>
              </a:ext>
            </a:extLst>
          </p:cNvPr>
          <p:cNvGrpSpPr/>
          <p:nvPr/>
        </p:nvGrpSpPr>
        <p:grpSpPr>
          <a:xfrm>
            <a:off x="3582450" y="1784724"/>
            <a:ext cx="1776360" cy="711722"/>
            <a:chOff x="3798081" y="775534"/>
            <a:chExt cx="1332303" cy="582519"/>
          </a:xfrm>
        </p:grpSpPr>
        <p:sp>
          <p:nvSpPr>
            <p:cNvPr id="12" name="Google Shape;82;p16">
              <a:extLst>
                <a:ext uri="{FF2B5EF4-FFF2-40B4-BE49-F238E27FC236}">
                  <a16:creationId xmlns:a16="http://schemas.microsoft.com/office/drawing/2014/main" id="{670F1A37-9C30-A543-BE98-38D805FFC846}"/>
                </a:ext>
              </a:extLst>
            </p:cNvPr>
            <p:cNvSpPr/>
            <p:nvPr/>
          </p:nvSpPr>
          <p:spPr>
            <a:xfrm>
              <a:off x="3798081" y="777253"/>
              <a:ext cx="1332300" cy="5808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Conjunto de datos etiquetado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83;p16">
              <a:extLst>
                <a:ext uri="{FF2B5EF4-FFF2-40B4-BE49-F238E27FC236}">
                  <a16:creationId xmlns:a16="http://schemas.microsoft.com/office/drawing/2014/main" id="{4272F836-9224-E049-ACBE-37AA2D7E3E34}"/>
                </a:ext>
              </a:extLst>
            </p:cNvPr>
            <p:cNvSpPr/>
            <p:nvPr/>
          </p:nvSpPr>
          <p:spPr>
            <a:xfrm>
              <a:off x="3798084" y="775534"/>
              <a:ext cx="1332300" cy="726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84;p16">
            <a:extLst>
              <a:ext uri="{FF2B5EF4-FFF2-40B4-BE49-F238E27FC236}">
                <a16:creationId xmlns:a16="http://schemas.microsoft.com/office/drawing/2014/main" id="{5A174ADA-6230-864B-927A-B462C6EA3907}"/>
              </a:ext>
            </a:extLst>
          </p:cNvPr>
          <p:cNvGrpSpPr/>
          <p:nvPr/>
        </p:nvGrpSpPr>
        <p:grpSpPr>
          <a:xfrm>
            <a:off x="2008750" y="3263144"/>
            <a:ext cx="1758912" cy="723053"/>
            <a:chOff x="2465775" y="2071474"/>
            <a:chExt cx="1332307" cy="643457"/>
          </a:xfrm>
        </p:grpSpPr>
        <p:sp>
          <p:nvSpPr>
            <p:cNvPr id="15" name="Google Shape;85;p16">
              <a:extLst>
                <a:ext uri="{FF2B5EF4-FFF2-40B4-BE49-F238E27FC236}">
                  <a16:creationId xmlns:a16="http://schemas.microsoft.com/office/drawing/2014/main" id="{6DB7685F-DFB9-7B47-B2B9-B6C35C9B83E5}"/>
                </a:ext>
              </a:extLst>
            </p:cNvPr>
            <p:cNvSpPr/>
            <p:nvPr/>
          </p:nvSpPr>
          <p:spPr>
            <a:xfrm>
              <a:off x="2465775" y="2085231"/>
              <a:ext cx="1332300" cy="6297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Oráculo (Usuario experto)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86;p16">
              <a:extLst>
                <a:ext uri="{FF2B5EF4-FFF2-40B4-BE49-F238E27FC236}">
                  <a16:creationId xmlns:a16="http://schemas.microsoft.com/office/drawing/2014/main" id="{63B05DDC-5312-8349-9F67-54DB197087F2}"/>
                </a:ext>
              </a:extLst>
            </p:cNvPr>
            <p:cNvSpPr/>
            <p:nvPr/>
          </p:nvSpPr>
          <p:spPr>
            <a:xfrm>
              <a:off x="2465782" y="2071474"/>
              <a:ext cx="1332300" cy="660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87;p16">
            <a:extLst>
              <a:ext uri="{FF2B5EF4-FFF2-40B4-BE49-F238E27FC236}">
                <a16:creationId xmlns:a16="http://schemas.microsoft.com/office/drawing/2014/main" id="{0C01F6A3-337D-0F4A-851A-667FAB9B9781}"/>
              </a:ext>
            </a:extLst>
          </p:cNvPr>
          <p:cNvGrpSpPr/>
          <p:nvPr/>
        </p:nvGrpSpPr>
        <p:grpSpPr>
          <a:xfrm>
            <a:off x="3582378" y="4812999"/>
            <a:ext cx="1573713" cy="743211"/>
            <a:chOff x="3798072" y="3348479"/>
            <a:chExt cx="1332300" cy="852600"/>
          </a:xfrm>
        </p:grpSpPr>
        <p:sp>
          <p:nvSpPr>
            <p:cNvPr id="18" name="Google Shape;88;p16">
              <a:extLst>
                <a:ext uri="{FF2B5EF4-FFF2-40B4-BE49-F238E27FC236}">
                  <a16:creationId xmlns:a16="http://schemas.microsoft.com/office/drawing/2014/main" id="{D542E55F-2B72-D84D-ABAC-A17A649907C0}"/>
                </a:ext>
              </a:extLst>
            </p:cNvPr>
            <p:cNvSpPr/>
            <p:nvPr/>
          </p:nvSpPr>
          <p:spPr>
            <a:xfrm>
              <a:off x="3798072" y="3348479"/>
              <a:ext cx="1332300" cy="85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Estrategia de consulta</a:t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89;p16">
              <a:extLst>
                <a:ext uri="{FF2B5EF4-FFF2-40B4-BE49-F238E27FC236}">
                  <a16:creationId xmlns:a16="http://schemas.microsoft.com/office/drawing/2014/main" id="{EBEE7969-78E1-FD4B-A008-51AAF8B5970A}"/>
                </a:ext>
              </a:extLst>
            </p:cNvPr>
            <p:cNvSpPr/>
            <p:nvPr/>
          </p:nvSpPr>
          <p:spPr>
            <a:xfrm>
              <a:off x="3798072" y="3373802"/>
              <a:ext cx="1332300" cy="62100"/>
            </a:xfrm>
            <a:prstGeom prst="round1Rect">
              <a:avLst>
                <a:gd name="adj" fmla="val 50000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90;p16">
            <a:extLst>
              <a:ext uri="{FF2B5EF4-FFF2-40B4-BE49-F238E27FC236}">
                <a16:creationId xmlns:a16="http://schemas.microsoft.com/office/drawing/2014/main" id="{4D69A532-4185-BA4A-B5AB-E0CF226D4726}"/>
              </a:ext>
            </a:extLst>
          </p:cNvPr>
          <p:cNvSpPr/>
          <p:nvPr/>
        </p:nvSpPr>
        <p:spPr>
          <a:xfrm>
            <a:off x="6363200" y="4576398"/>
            <a:ext cx="1338000" cy="1208400"/>
          </a:xfrm>
          <a:prstGeom prst="can">
            <a:avLst>
              <a:gd name="adj" fmla="val 25000"/>
            </a:avLst>
          </a:prstGeom>
          <a:solidFill>
            <a:srgbClr val="0C58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Conjunto de datos no etiquetados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91;p16">
            <a:extLst>
              <a:ext uri="{FF2B5EF4-FFF2-40B4-BE49-F238E27FC236}">
                <a16:creationId xmlns:a16="http://schemas.microsoft.com/office/drawing/2014/main" id="{62F1B16D-C1A2-E84C-8F6E-343423677A45}"/>
              </a:ext>
            </a:extLst>
          </p:cNvPr>
          <p:cNvCxnSpPr>
            <a:stCxn id="18" idx="3"/>
            <a:endCxn id="20" idx="2"/>
          </p:cNvCxnSpPr>
          <p:nvPr/>
        </p:nvCxnSpPr>
        <p:spPr>
          <a:xfrm rot="10800000" flipH="1">
            <a:off x="5156091" y="5180704"/>
            <a:ext cx="1207200" cy="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6648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/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Framework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911132-124F-6D41-9DD2-04939BDB2B17}"/>
              </a:ext>
            </a:extLst>
          </p:cNvPr>
          <p:cNvSpPr/>
          <p:nvPr/>
        </p:nvSpPr>
        <p:spPr>
          <a:xfrm>
            <a:off x="1138989" y="2413338"/>
            <a:ext cx="70906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framework en el área de las ciencias de la computación se define como un conjunto de técnicas y herramientas que permiten el desarrollo de algún producto, abstrayendo y facilitando el desarrollo de ciertas tareas según el dominio para el cual está construido el mismo</a:t>
            </a:r>
            <a:r>
              <a:rPr lang="es-ES" sz="2400"/>
              <a:t> </a:t>
            </a:r>
            <a:endParaRPr lang="es-ES_tradnl" sz="2400"/>
          </a:p>
        </p:txBody>
      </p:sp>
    </p:spTree>
    <p:extLst>
      <p:ext uri="{BB962C8B-B14F-4D97-AF65-F5344CB8AC3E}">
        <p14:creationId xmlns:p14="http://schemas.microsoft.com/office/powerpoint/2010/main" val="42111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DAB68FF-00F0-7245-A48E-A53EE16A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Algunnos Frameworks para ML</a:t>
            </a:r>
          </a:p>
        </p:txBody>
      </p:sp>
      <p:pic>
        <p:nvPicPr>
          <p:cNvPr id="9" name="Google Shape;97;p17">
            <a:extLst>
              <a:ext uri="{FF2B5EF4-FFF2-40B4-BE49-F238E27FC236}">
                <a16:creationId xmlns:a16="http://schemas.microsoft.com/office/drawing/2014/main" id="{3530D43E-EB71-2E48-8E66-513675CCE1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0457" y="2196825"/>
            <a:ext cx="1876436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8;p17">
            <a:extLst>
              <a:ext uri="{FF2B5EF4-FFF2-40B4-BE49-F238E27FC236}">
                <a16:creationId xmlns:a16="http://schemas.microsoft.com/office/drawing/2014/main" id="{EBA1F04F-70DD-3A41-96E3-ADBCF5EF8E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2744" y="3248523"/>
            <a:ext cx="2320975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9;p17">
            <a:extLst>
              <a:ext uri="{FF2B5EF4-FFF2-40B4-BE49-F238E27FC236}">
                <a16:creationId xmlns:a16="http://schemas.microsoft.com/office/drawing/2014/main" id="{2FA55A00-F53F-F345-A086-B0B96D5232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582" y="2253262"/>
            <a:ext cx="2476075" cy="113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0;p17">
            <a:extLst>
              <a:ext uri="{FF2B5EF4-FFF2-40B4-BE49-F238E27FC236}">
                <a16:creationId xmlns:a16="http://schemas.microsoft.com/office/drawing/2014/main" id="{07904363-9F7A-E142-9BF1-8F20527F004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32" y="4760775"/>
            <a:ext cx="3567850" cy="9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7">
            <a:extLst>
              <a:ext uri="{FF2B5EF4-FFF2-40B4-BE49-F238E27FC236}">
                <a16:creationId xmlns:a16="http://schemas.microsoft.com/office/drawing/2014/main" id="{16EE8781-7C92-0241-926D-D6523EDCE62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2682" y="4679724"/>
            <a:ext cx="2937083" cy="11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821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67FD1FF-C7EE-A046-8F34-032B96F0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JCLAL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AAE21DF-2275-CE47-A682-4E61FFFDD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723095"/>
              </p:ext>
            </p:extLst>
          </p:nvPr>
        </p:nvGraphicFramePr>
        <p:xfrm>
          <a:off x="-10665" y="1192904"/>
          <a:ext cx="9154665" cy="5521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53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8202978-F943-CC41-AD3A-365AC1658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658" y="1967753"/>
            <a:ext cx="1737653" cy="9227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20A158-6C53-9943-87EA-8574714D6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73" y="2001728"/>
            <a:ext cx="1122124" cy="93891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D7F3D8A-068B-2945-95DC-BF33B3F95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972634"/>
            <a:ext cx="1122124" cy="93891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27CAF74-EBA8-B54E-AE09-C6C0C17A7D8D}"/>
              </a:ext>
            </a:extLst>
          </p:cNvPr>
          <p:cNvSpPr txBox="1"/>
          <p:nvPr/>
        </p:nvSpPr>
        <p:spPr>
          <a:xfrm>
            <a:off x="6228184" y="2224120"/>
            <a:ext cx="94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rgbClr val="D7B46D"/>
                </a:solidFill>
              </a:rPr>
              <a:t>+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32D7FA-878C-054B-9238-FF67779B28AF}"/>
              </a:ext>
            </a:extLst>
          </p:cNvPr>
          <p:cNvSpPr txBox="1"/>
          <p:nvPr/>
        </p:nvSpPr>
        <p:spPr>
          <a:xfrm>
            <a:off x="543744" y="3512310"/>
            <a:ext cx="33843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Núcleo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Clasificadores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Estrategias de consulta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Escenarios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Métodos de evaluación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i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4B5CCDB-E8DE-2048-9BB5-A095D9BD317C}"/>
              </a:ext>
            </a:extLst>
          </p:cNvPr>
          <p:cNvSpPr/>
          <p:nvPr/>
        </p:nvSpPr>
        <p:spPr>
          <a:xfrm>
            <a:off x="5014454" y="1772816"/>
            <a:ext cx="3672408" cy="440087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69E6CC-EC19-0E43-8A57-129315F6CF8F}"/>
              </a:ext>
            </a:extLst>
          </p:cNvPr>
          <p:cNvSpPr/>
          <p:nvPr/>
        </p:nvSpPr>
        <p:spPr>
          <a:xfrm>
            <a:off x="403920" y="1772816"/>
            <a:ext cx="3664024" cy="440087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496634-3F06-4648-8067-778A77134DB0}"/>
              </a:ext>
            </a:extLst>
          </p:cNvPr>
          <p:cNvSpPr txBox="1"/>
          <p:nvPr/>
        </p:nvSpPr>
        <p:spPr>
          <a:xfrm>
            <a:off x="5158469" y="3512310"/>
            <a:ext cx="34298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Procesamiento distribuido del ciclo de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2000" dirty="0"/>
              <a:t>Permite el trabajo con conjuntos de datos dentro del área de </a:t>
            </a:r>
            <a:r>
              <a:rPr lang="es-ES" sz="2000" i="1" dirty="0" err="1"/>
              <a:t>BigData</a:t>
            </a:r>
            <a:endParaRPr lang="es-ES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266DCDE-EA5A-B243-84BC-2EFB0304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JCLAL</a:t>
            </a:r>
          </a:p>
        </p:txBody>
      </p:sp>
    </p:spTree>
    <p:extLst>
      <p:ext uri="{BB962C8B-B14F-4D97-AF65-F5344CB8AC3E}">
        <p14:creationId xmlns:p14="http://schemas.microsoft.com/office/powerpoint/2010/main" val="137034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Deficiencias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22469F-BE66-5648-89FC-E2FC165F4D89}"/>
              </a:ext>
            </a:extLst>
          </p:cNvPr>
          <p:cNvSpPr/>
          <p:nvPr/>
        </p:nvSpPr>
        <p:spPr>
          <a:xfrm>
            <a:off x="708454" y="1928590"/>
            <a:ext cx="78068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Tx/>
              <a:buChar char="•"/>
              <a:defRPr/>
            </a:pPr>
            <a:r>
              <a:rPr lang="es-ES" altLang="es-ES" dirty="0"/>
              <a:t>Los investigadores deben dominar los paquetes de clases del </a:t>
            </a:r>
            <a:r>
              <a:rPr lang="es-ES" altLang="es-ES" i="1" dirty="0" err="1"/>
              <a:t>framework</a:t>
            </a:r>
            <a:r>
              <a:rPr lang="es-ES" altLang="es-ES" dirty="0"/>
              <a:t>, así como todas las etiquetas de XML necesarias para realizar los experimentos</a:t>
            </a:r>
          </a:p>
          <a:p>
            <a:pPr marL="0" indent="0" algn="just">
              <a:lnSpc>
                <a:spcPct val="150000"/>
              </a:lnSpc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La interacción poco asistida en la configuración, ejecución de los experimentos y comparación de los resultados obtenidos, puede provocar que el tiempo de trabajo aumente</a:t>
            </a:r>
          </a:p>
          <a:p>
            <a:pPr algn="just">
              <a:buFontTx/>
              <a:buChar char="•"/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El usuario puede introducir errores de escritura en la configuración del XML y tener problemas en encontrar su origen</a:t>
            </a:r>
          </a:p>
          <a:p>
            <a:pPr algn="just">
              <a:lnSpc>
                <a:spcPct val="150000"/>
              </a:lnSpc>
              <a:buFontTx/>
              <a:buChar char="•"/>
              <a:defRPr/>
            </a:pPr>
            <a:endParaRPr lang="es-ES" altLang="es-ES" dirty="0"/>
          </a:p>
          <a:p>
            <a:pPr algn="just">
              <a:buFontTx/>
              <a:buChar char="•"/>
              <a:defRPr/>
            </a:pPr>
            <a:r>
              <a:rPr lang="es-ES" altLang="es-ES" dirty="0"/>
              <a:t>Los usuarios con poca habilidad en el uso del </a:t>
            </a:r>
            <a:r>
              <a:rPr lang="es-ES" altLang="es-ES" i="1" dirty="0" err="1"/>
              <a:t>framework</a:t>
            </a:r>
            <a:r>
              <a:rPr lang="es-ES" altLang="es-ES" i="1" dirty="0"/>
              <a:t> </a:t>
            </a:r>
            <a:r>
              <a:rPr lang="es-ES" altLang="es-ES" dirty="0"/>
              <a:t> o con conocimientos básicos de AL, es poco probable que sean capaces de realizar los experimentos de forma rápida y sencilla</a:t>
            </a:r>
          </a:p>
          <a:p>
            <a:pPr algn="just">
              <a:defRPr/>
            </a:pPr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3385266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Visual JCLAL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D17CDB-1F6B-1045-8A38-27DEA59B5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2" y="1930100"/>
            <a:ext cx="2448272" cy="30484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DEBE53-F399-734A-B704-021C3327D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251" y="990987"/>
            <a:ext cx="5548416" cy="30477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EE2FF66-CCF0-D14C-B224-C905F4FDE6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9"/>
          <a:stretch/>
        </p:blipFill>
        <p:spPr>
          <a:xfrm>
            <a:off x="3230605" y="4127155"/>
            <a:ext cx="4775200" cy="254291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glow rad="12700">
              <a:schemeClr val="accent1">
                <a:lumMod val="75000"/>
              </a:schemeClr>
            </a:glo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2310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619332-0898-0E4D-9295-1534734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>
                <a:solidFill>
                  <a:srgbClr val="94B824"/>
                </a:solidFill>
                <a:latin typeface="Museo Sans 900" charset="0"/>
              </a:rPr>
              <a:t>Deficiencias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C22469F-BE66-5648-89FC-E2FC165F4D89}"/>
              </a:ext>
            </a:extLst>
          </p:cNvPr>
          <p:cNvSpPr/>
          <p:nvPr/>
        </p:nvSpPr>
        <p:spPr>
          <a:xfrm>
            <a:off x="708454" y="1928590"/>
            <a:ext cx="7806896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•"/>
              <a:defRPr/>
            </a:pPr>
            <a:r>
              <a:rPr lang="es-ES" altLang="es-ES" sz="2000" dirty="0"/>
              <a:t>La maquina virtual de Java debe estar instalada en el terminal donde se vaya a usar</a:t>
            </a:r>
          </a:p>
          <a:p>
            <a:pPr marL="0" indent="0">
              <a:lnSpc>
                <a:spcPct val="150000"/>
              </a:lnSpc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La configuración de los experimentos se realiza de manera confusa para los investigadores con poca experiencia</a:t>
            </a:r>
          </a:p>
          <a:p>
            <a:pPr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almacena un historial de experimentación.</a:t>
            </a:r>
          </a:p>
          <a:p>
            <a:pPr>
              <a:lnSpc>
                <a:spcPct val="150000"/>
              </a:lnSpc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permite una gestión de usuarios.</a:t>
            </a:r>
          </a:p>
          <a:p>
            <a:pPr>
              <a:buFontTx/>
              <a:buChar char="•"/>
              <a:defRPr/>
            </a:pPr>
            <a:endParaRPr lang="es-ES" altLang="es-ES" sz="2000" dirty="0"/>
          </a:p>
          <a:p>
            <a:pPr>
              <a:buFontTx/>
              <a:buChar char="•"/>
              <a:defRPr/>
            </a:pPr>
            <a:r>
              <a:rPr lang="es-ES" altLang="es-ES" sz="2000" dirty="0"/>
              <a:t>No permite la experimentación de forma colaborativa entre varios investigadores.</a:t>
            </a:r>
          </a:p>
          <a:p>
            <a:pPr algn="just">
              <a:defRPr/>
            </a:pPr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2752621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E2F43-85F5-0245-92D1-CF5347D7F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b="1" dirty="0"/>
              <a:t>Problema Científico </a:t>
            </a:r>
          </a:p>
          <a:p>
            <a:pPr marL="0" indent="0">
              <a:buNone/>
            </a:pPr>
            <a:r>
              <a:rPr lang="es-ES" dirty="0"/>
              <a:t>¿Cómo facilitar la realización de experimentos aplicando Aprendizaje Activo en entornos colaborativos?</a:t>
            </a:r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r>
              <a:rPr lang="es-ES_tradnl" b="1" dirty="0"/>
              <a:t>Objeto de Estudio</a:t>
            </a:r>
          </a:p>
          <a:p>
            <a:pPr marL="0" indent="0">
              <a:buNone/>
            </a:pPr>
            <a:r>
              <a:rPr lang="es-ES" dirty="0"/>
              <a:t>Experimentación aplicando Aprendizaje Activo</a:t>
            </a:r>
          </a:p>
          <a:p>
            <a:pPr marL="0" indent="0">
              <a:buNone/>
            </a:pPr>
            <a:endParaRPr lang="es-ES_tradnl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EA1627-15D1-F54D-B73B-66CB8EFB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Diseño de la investigación </a:t>
            </a:r>
          </a:p>
        </p:txBody>
      </p:sp>
    </p:spTree>
    <p:extLst>
      <p:ext uri="{BB962C8B-B14F-4D97-AF65-F5344CB8AC3E}">
        <p14:creationId xmlns:p14="http://schemas.microsoft.com/office/powerpoint/2010/main" val="20546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b="1" dirty="0"/>
              <a:t>Objetivo General</a:t>
            </a:r>
          </a:p>
          <a:p>
            <a:pPr marL="0" indent="0">
              <a:buNone/>
            </a:pPr>
            <a:r>
              <a:rPr lang="es-ES" sz="2400" dirty="0"/>
              <a:t>Desarrollar una aplicación web para el uso del framework JCLAL que permita la realización de experimentos de forma individual o colaborativa en un ambiente de desarrollo local o en un entorno de red.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s-ES" b="1" dirty="0"/>
              <a:t>Campo de Acción</a:t>
            </a:r>
          </a:p>
          <a:p>
            <a:pPr marL="0" indent="0">
              <a:buNone/>
            </a:pPr>
            <a:r>
              <a:rPr lang="es-ES" sz="2400" dirty="0"/>
              <a:t>Realización de experimentos usando el framework JCLAL.</a:t>
            </a:r>
            <a:endParaRPr lang="es-ES_tradn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Diseño de la investigación </a:t>
            </a:r>
          </a:p>
        </p:txBody>
      </p:sp>
    </p:spTree>
    <p:extLst>
      <p:ext uri="{BB962C8B-B14F-4D97-AF65-F5344CB8AC3E}">
        <p14:creationId xmlns:p14="http://schemas.microsoft.com/office/powerpoint/2010/main" val="84518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 algn="just">
              <a:buFontTx/>
              <a:buChar char="•"/>
              <a:defRPr/>
            </a:pPr>
            <a:r>
              <a:rPr lang="es-ES" altLang="es-ES" sz="2400" dirty="0"/>
              <a:t>¿Cuáles son los fundamentos teóricos de las técnicas de </a:t>
            </a:r>
            <a:r>
              <a:rPr lang="es-ES" altLang="es-ES" sz="2400" i="1" dirty="0"/>
              <a:t>Active Learning</a:t>
            </a:r>
            <a:r>
              <a:rPr lang="es-ES" altLang="es-ES" sz="2400" dirty="0"/>
              <a:t>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ES" altLang="es-ES" sz="2400" dirty="0"/>
              <a:t>¿Cuál es el uso actual de las técnicas y métodos de </a:t>
            </a:r>
            <a:r>
              <a:rPr lang="es-ES" altLang="es-ES" sz="2400" i="1" dirty="0"/>
              <a:t>Active Learning</a:t>
            </a:r>
            <a:r>
              <a:rPr lang="es-ES" altLang="es-ES" sz="2400" dirty="0"/>
              <a:t> en el </a:t>
            </a:r>
            <a:r>
              <a:rPr lang="es-ES" altLang="es-ES" sz="2400" i="1" dirty="0"/>
              <a:t>framework</a:t>
            </a:r>
            <a:r>
              <a:rPr lang="es-E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US" altLang="es-ES" sz="2400" dirty="0"/>
              <a:t>¿Cómo diseñar un entorno de usuario que facilite la realización de experimentos en el </a:t>
            </a:r>
            <a:r>
              <a:rPr lang="es-US" altLang="es-ES" sz="2400" i="1" dirty="0"/>
              <a:t>framework</a:t>
            </a:r>
            <a:r>
              <a:rPr lang="es-U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US" altLang="es-ES" sz="2400" dirty="0"/>
          </a:p>
          <a:p>
            <a:pPr marL="355600" indent="-355600" algn="just">
              <a:buFontTx/>
              <a:buChar char="•"/>
              <a:defRPr/>
            </a:pPr>
            <a:r>
              <a:rPr lang="es-US" altLang="es-ES" sz="2400" dirty="0"/>
              <a:t>¿Cómo valorar la facilidad de uso del entorno de usuario propuesto para el </a:t>
            </a:r>
            <a:r>
              <a:rPr lang="es-US" altLang="es-ES" sz="2400" i="1" dirty="0"/>
              <a:t>framework</a:t>
            </a:r>
            <a:r>
              <a:rPr lang="es-US" altLang="es-ES" sz="2400" dirty="0"/>
              <a:t> JCLAL?</a:t>
            </a:r>
          </a:p>
          <a:p>
            <a:pPr marL="355600" indent="-355600" algn="just">
              <a:buFontTx/>
              <a:buChar char="•"/>
              <a:defRPr/>
            </a:pPr>
            <a:endParaRPr lang="es-ES" alt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Preguntas Científicas</a:t>
            </a:r>
          </a:p>
        </p:txBody>
      </p:sp>
    </p:spTree>
    <p:extLst>
      <p:ext uri="{BB962C8B-B14F-4D97-AF65-F5344CB8AC3E}">
        <p14:creationId xmlns:p14="http://schemas.microsoft.com/office/powerpoint/2010/main" val="161640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146F1-00ED-B74F-B67E-B2278785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AutoNum type="arabicPeriod"/>
              <a:defRPr/>
            </a:pPr>
            <a:r>
              <a:rPr lang="es-ES" altLang="es-MX" sz="2000" dirty="0"/>
              <a:t>Analizar los fundamentos teóricos que rigen las técnicas de </a:t>
            </a:r>
            <a:r>
              <a:rPr lang="es-ES" altLang="es-MX" sz="2000" i="1" dirty="0"/>
              <a:t>Active Learning</a:t>
            </a:r>
            <a:r>
              <a:rPr lang="es-ES" altLang="es-MX" sz="2000" dirty="0"/>
              <a:t>.</a:t>
            </a:r>
          </a:p>
          <a:p>
            <a:pPr algn="just">
              <a:buFontTx/>
              <a:buAutoNum type="arabicPeriod"/>
              <a:defRPr/>
            </a:pPr>
            <a:endParaRPr lang="es-ES" altLang="es-MX" sz="2000" dirty="0"/>
          </a:p>
          <a:p>
            <a:pPr algn="just">
              <a:buFontTx/>
              <a:buAutoNum type="arabicPeriod"/>
              <a:defRPr/>
            </a:pPr>
            <a:r>
              <a:rPr lang="es-ES" altLang="es-MX" sz="2000" dirty="0"/>
              <a:t>Analizar el uso actual de las técnicas de </a:t>
            </a:r>
            <a:r>
              <a:rPr lang="es-ES" altLang="es-MX" sz="2000" i="1" dirty="0"/>
              <a:t>Active Learning</a:t>
            </a:r>
            <a:r>
              <a:rPr lang="es-ES" altLang="es-MX" sz="2000" dirty="0"/>
              <a:t> en el </a:t>
            </a:r>
            <a:r>
              <a:rPr lang="es-ES" altLang="es-MX" sz="2000" i="1" dirty="0"/>
              <a:t>framework</a:t>
            </a:r>
            <a:r>
              <a:rPr lang="es-ES" altLang="es-MX" sz="2000" dirty="0"/>
              <a:t> JCLAL.</a:t>
            </a:r>
          </a:p>
          <a:p>
            <a:pPr algn="just">
              <a:buFontTx/>
              <a:buAutoNum type="arabicPeriod"/>
              <a:defRPr/>
            </a:pPr>
            <a:endParaRPr lang="es-ES" sz="2000" dirty="0"/>
          </a:p>
          <a:p>
            <a:pPr algn="just">
              <a:buFontTx/>
              <a:buAutoNum type="arabicPeriod"/>
              <a:defRPr/>
            </a:pPr>
            <a:r>
              <a:rPr lang="es-ES" sz="2000" dirty="0"/>
              <a:t>Implementar una aplicación web para el uso del </a:t>
            </a:r>
            <a:r>
              <a:rPr lang="es-ES" sz="2000" i="1" dirty="0"/>
              <a:t>framework</a:t>
            </a:r>
            <a:r>
              <a:rPr lang="es-ES" sz="2000" dirty="0"/>
              <a:t> JCLAL, que facilite la realización de experimentos usando técnicas de </a:t>
            </a:r>
            <a:r>
              <a:rPr lang="es-ES" altLang="es-MX" sz="2000" i="1" dirty="0"/>
              <a:t>Active Learning en entornos colaborativos</a:t>
            </a:r>
            <a:r>
              <a:rPr lang="es-ES" sz="2000" dirty="0"/>
              <a:t>.</a:t>
            </a:r>
          </a:p>
          <a:p>
            <a:pPr algn="just">
              <a:buFontTx/>
              <a:buAutoNum type="arabicPeriod" startAt="4"/>
              <a:defRPr/>
            </a:pPr>
            <a:endParaRPr lang="es-ES" sz="2000" dirty="0"/>
          </a:p>
          <a:p>
            <a:pPr algn="just">
              <a:buFontTx/>
              <a:buAutoNum type="arabicPeriod" startAt="4"/>
              <a:defRPr/>
            </a:pPr>
            <a:r>
              <a:rPr lang="es-ES" sz="2000" dirty="0"/>
              <a:t>Valorar la usabilidad de la aplicación web propuesta.</a:t>
            </a:r>
          </a:p>
          <a:p>
            <a:pPr algn="just">
              <a:buFontTx/>
              <a:buAutoNum type="arabicPeriod"/>
              <a:defRPr/>
            </a:pPr>
            <a:endParaRPr lang="es-ES" altLang="es-MX" sz="2400" dirty="0"/>
          </a:p>
          <a:p>
            <a:pPr marL="355600" indent="-355600" algn="just">
              <a:buFontTx/>
              <a:buChar char="•"/>
              <a:defRPr/>
            </a:pPr>
            <a:endParaRPr lang="es-ES" alt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1CCB5E2-939F-6246-A52C-899FDBDE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Tareas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16814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F01B9CC-788A-A548-8C8F-E4D57D67F4D1}"/>
              </a:ext>
            </a:extLst>
          </p:cNvPr>
          <p:cNvSpPr/>
          <p:nvPr/>
        </p:nvSpPr>
        <p:spPr>
          <a:xfrm>
            <a:off x="6084888" y="3424238"/>
            <a:ext cx="2771775" cy="289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B1E5F4-7235-E348-868C-3E69E842EA9D}"/>
              </a:ext>
            </a:extLst>
          </p:cNvPr>
          <p:cNvSpPr/>
          <p:nvPr/>
        </p:nvSpPr>
        <p:spPr>
          <a:xfrm>
            <a:off x="254000" y="3424238"/>
            <a:ext cx="2949575" cy="28924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22D418A1-D468-EC4C-B243-E3E85833E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1409700"/>
            <a:ext cx="4608512" cy="584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3200" dirty="0"/>
              <a:t>Métodos</a:t>
            </a: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27B5D279-450D-C742-8AEE-D98ED5C3C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78075"/>
            <a:ext cx="2665413" cy="523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dirty="0"/>
              <a:t>Teóricos</a:t>
            </a: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1C3D1E7D-5399-BE40-A20A-86D699AAD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2378075"/>
            <a:ext cx="2771775" cy="523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800" dirty="0"/>
              <a:t>Empíricos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90946B4-9FE2-D44A-B4CE-2011791CC0C5}"/>
              </a:ext>
            </a:extLst>
          </p:cNvPr>
          <p:cNvCxnSpPr>
            <a:endCxn id="7" idx="3"/>
          </p:cNvCxnSpPr>
          <p:nvPr/>
        </p:nvCxnSpPr>
        <p:spPr>
          <a:xfrm flipH="1">
            <a:off x="2916238" y="2006600"/>
            <a:ext cx="1076325" cy="6334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8F32D4C-DB07-9F41-B7BD-55E48426CC5F}"/>
              </a:ext>
            </a:extLst>
          </p:cNvPr>
          <p:cNvCxnSpPr>
            <a:endCxn id="8" idx="1"/>
          </p:cNvCxnSpPr>
          <p:nvPr/>
        </p:nvCxnSpPr>
        <p:spPr>
          <a:xfrm>
            <a:off x="5148263" y="1989138"/>
            <a:ext cx="936625" cy="6508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CuadroTexto 1">
            <a:extLst>
              <a:ext uri="{FF2B5EF4-FFF2-40B4-BE49-F238E27FC236}">
                <a16:creationId xmlns:a16="http://schemas.microsoft.com/office/drawing/2014/main" id="{DCFF775B-6561-AF45-A661-0F16725F2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3508375"/>
            <a:ext cx="2600325" cy="460375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Análisis y síntesis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FA80F7D-79FE-7A49-A20D-51C40935C6DA}"/>
              </a:ext>
            </a:extLst>
          </p:cNvPr>
          <p:cNvCxnSpPr>
            <a:stCxn id="7" idx="2"/>
          </p:cNvCxnSpPr>
          <p:nvPr/>
        </p:nvCxnSpPr>
        <p:spPr>
          <a:xfrm>
            <a:off x="1584325" y="2901950"/>
            <a:ext cx="0" cy="455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CuadroTexto 1">
            <a:extLst>
              <a:ext uri="{FF2B5EF4-FFF2-40B4-BE49-F238E27FC236}">
                <a16:creationId xmlns:a16="http://schemas.microsoft.com/office/drawing/2014/main" id="{53ACA0F4-871C-0F4B-AAE2-ACD16785B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194175"/>
            <a:ext cx="2600325" cy="461963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Modelación</a:t>
            </a:r>
          </a:p>
        </p:txBody>
      </p:sp>
      <p:sp>
        <p:nvSpPr>
          <p:cNvPr id="14" name="CuadroTexto 1">
            <a:extLst>
              <a:ext uri="{FF2B5EF4-FFF2-40B4-BE49-F238E27FC236}">
                <a16:creationId xmlns:a16="http://schemas.microsoft.com/office/drawing/2014/main" id="{957FBF8B-EE6C-4F44-800F-C080BD0F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929188"/>
            <a:ext cx="2600325" cy="4619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Sistémico</a:t>
            </a:r>
          </a:p>
        </p:txBody>
      </p:sp>
      <p:sp>
        <p:nvSpPr>
          <p:cNvPr id="15" name="CuadroTexto 1">
            <a:extLst>
              <a:ext uri="{FF2B5EF4-FFF2-40B4-BE49-F238E27FC236}">
                <a16:creationId xmlns:a16="http://schemas.microsoft.com/office/drawing/2014/main" id="{E85AB0E9-1DAF-E249-B253-7B311B510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5713413"/>
            <a:ext cx="2600325" cy="4619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Histórico-lógico</a:t>
            </a:r>
          </a:p>
        </p:txBody>
      </p:sp>
      <p:sp>
        <p:nvSpPr>
          <p:cNvPr id="16" name="CuadroTexto 1">
            <a:extLst>
              <a:ext uri="{FF2B5EF4-FFF2-40B4-BE49-F238E27FC236}">
                <a16:creationId xmlns:a16="http://schemas.microsoft.com/office/drawing/2014/main" id="{033A3C74-996D-8D4F-A16B-92FCDFA37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3576638"/>
            <a:ext cx="2501900" cy="830262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Revisión de la documentación</a:t>
            </a:r>
          </a:p>
        </p:txBody>
      </p:sp>
      <p:sp>
        <p:nvSpPr>
          <p:cNvPr id="17" name="CuadroTexto 1">
            <a:extLst>
              <a:ext uri="{FF2B5EF4-FFF2-40B4-BE49-F238E27FC236}">
                <a16:creationId xmlns:a16="http://schemas.microsoft.com/office/drawing/2014/main" id="{BA3F30CB-D3DF-554F-AAE0-35CE925CC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5225" y="4787900"/>
            <a:ext cx="2503488" cy="460375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Observación</a:t>
            </a:r>
          </a:p>
        </p:txBody>
      </p:sp>
      <p:sp>
        <p:nvSpPr>
          <p:cNvPr id="18" name="CuadroTexto 1">
            <a:extLst>
              <a:ext uri="{FF2B5EF4-FFF2-40B4-BE49-F238E27FC236}">
                <a16:creationId xmlns:a16="http://schemas.microsoft.com/office/drawing/2014/main" id="{7C7B51F7-9C63-5A4C-9F8F-712EC61CE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0" y="5629275"/>
            <a:ext cx="2503488" cy="461963"/>
          </a:xfrm>
          <a:prstGeom prst="rect">
            <a:avLst/>
          </a:prstGeom>
          <a:ln>
            <a:solidFill>
              <a:srgbClr val="E7D2A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altLang="es-ES" sz="2400" dirty="0"/>
              <a:t>Entrevista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D5590F2-A526-594F-BBEC-CBE8ED214B82}"/>
              </a:ext>
            </a:extLst>
          </p:cNvPr>
          <p:cNvCxnSpPr/>
          <p:nvPr/>
        </p:nvCxnSpPr>
        <p:spPr>
          <a:xfrm>
            <a:off x="7451725" y="2901950"/>
            <a:ext cx="0" cy="455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1556AF1C-B8F8-6448-A665-D455F735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Métodos de trabajo científico</a:t>
            </a:r>
          </a:p>
        </p:txBody>
      </p:sp>
    </p:spTree>
    <p:extLst>
      <p:ext uri="{BB962C8B-B14F-4D97-AF65-F5344CB8AC3E}">
        <p14:creationId xmlns:p14="http://schemas.microsoft.com/office/powerpoint/2010/main" val="30672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61D7C9D-820F-F441-AA63-79FBC1F9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Requerimientos Funcionales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97D059-523F-FC4C-AC19-4578D975B5AC}"/>
              </a:ext>
            </a:extLst>
          </p:cNvPr>
          <p:cNvSpPr/>
          <p:nvPr/>
        </p:nvSpPr>
        <p:spPr>
          <a:xfrm>
            <a:off x="1327094" y="1456566"/>
            <a:ext cx="727473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Configurar nuevo experimento 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Crear una configuración dinámica de los experimentos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Guardar la configuración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Cargar la configuración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Ejecutar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Visualizar resultados de un experimento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Guardar historial de experimentos</a:t>
            </a:r>
          </a:p>
          <a:p>
            <a:pPr>
              <a:buFont typeface="+mj-lt"/>
              <a:buAutoNum type="arabicPeriod"/>
            </a:pPr>
            <a:endParaRPr lang="es-ES" sz="2000" dirty="0">
              <a:latin typeface="+mn-lt"/>
            </a:endParaRPr>
          </a:p>
          <a:p>
            <a:pPr>
              <a:buFont typeface="+mj-lt"/>
              <a:buAutoNum type="arabicPeriod"/>
            </a:pPr>
            <a:r>
              <a:rPr lang="es-ES" sz="2000" dirty="0">
                <a:latin typeface="+mn-lt"/>
              </a:rPr>
              <a:t>Gestionar usuarios</a:t>
            </a:r>
            <a:endParaRPr lang="es-ES" sz="20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174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23128A4-694E-FA46-AF0A-35E1549D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688" y="266700"/>
            <a:ext cx="6697662" cy="1062038"/>
          </a:xfrm>
        </p:spPr>
        <p:txBody>
          <a:bodyPr/>
          <a:lstStyle/>
          <a:p>
            <a:r>
              <a:rPr lang="es-MX" altLang="x-none" sz="2800" dirty="0">
                <a:solidFill>
                  <a:srgbClr val="94B824"/>
                </a:solidFill>
                <a:latin typeface="Museo Sans 900" charset="0"/>
              </a:rPr>
              <a:t>Analisis de Sostenibilidad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40D3344-6CC9-B746-9881-B23EC61DC87B}"/>
              </a:ext>
            </a:extLst>
          </p:cNvPr>
          <p:cNvSpPr/>
          <p:nvPr/>
        </p:nvSpPr>
        <p:spPr>
          <a:xfrm>
            <a:off x="3293458" y="3633324"/>
            <a:ext cx="2484255" cy="15941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Sostenible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64E1B90-5BDA-614D-8EF5-604CE5B7F976}"/>
              </a:ext>
            </a:extLst>
          </p:cNvPr>
          <p:cNvSpPr/>
          <p:nvPr/>
        </p:nvSpPr>
        <p:spPr>
          <a:xfrm>
            <a:off x="736375" y="3163986"/>
            <a:ext cx="1624827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Administrativa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23F48EFB-F9F3-FF46-B44B-59224E505615}"/>
              </a:ext>
            </a:extLst>
          </p:cNvPr>
          <p:cNvSpPr/>
          <p:nvPr/>
        </p:nvSpPr>
        <p:spPr>
          <a:xfrm>
            <a:off x="6755501" y="3155894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Tecnológica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9456DCB0-009E-E54F-8ABA-71248E192CD6}"/>
              </a:ext>
            </a:extLst>
          </p:cNvPr>
          <p:cNvSpPr/>
          <p:nvPr/>
        </p:nvSpPr>
        <p:spPr>
          <a:xfrm>
            <a:off x="5166519" y="1328738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Ambiental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872AA3D-8DD3-5841-9473-F56F9C2134DC}"/>
              </a:ext>
            </a:extLst>
          </p:cNvPr>
          <p:cNvSpPr/>
          <p:nvPr/>
        </p:nvSpPr>
        <p:spPr>
          <a:xfrm>
            <a:off x="2361202" y="1287456"/>
            <a:ext cx="1586039" cy="9548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Socio-humanista</a:t>
            </a:r>
          </a:p>
        </p:txBody>
      </p:sp>
      <p:sp>
        <p:nvSpPr>
          <p:cNvPr id="10" name="Flecha abajo 9">
            <a:extLst>
              <a:ext uri="{FF2B5EF4-FFF2-40B4-BE49-F238E27FC236}">
                <a16:creationId xmlns:a16="http://schemas.microsoft.com/office/drawing/2014/main" id="{E4E4A148-2BA8-C641-85FC-BA2B23A8963D}"/>
              </a:ext>
            </a:extLst>
          </p:cNvPr>
          <p:cNvSpPr/>
          <p:nvPr/>
        </p:nvSpPr>
        <p:spPr>
          <a:xfrm rot="20037179">
            <a:off x="3245146" y="2280463"/>
            <a:ext cx="496634" cy="1395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 abajo 10">
            <a:extLst>
              <a:ext uri="{FF2B5EF4-FFF2-40B4-BE49-F238E27FC236}">
                <a16:creationId xmlns:a16="http://schemas.microsoft.com/office/drawing/2014/main" id="{D63CA4F1-D838-6149-B771-D197CA83007E}"/>
              </a:ext>
            </a:extLst>
          </p:cNvPr>
          <p:cNvSpPr/>
          <p:nvPr/>
        </p:nvSpPr>
        <p:spPr>
          <a:xfrm rot="17645690">
            <a:off x="2621494" y="3383133"/>
            <a:ext cx="496634" cy="892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 abajo 11">
            <a:extLst>
              <a:ext uri="{FF2B5EF4-FFF2-40B4-BE49-F238E27FC236}">
                <a16:creationId xmlns:a16="http://schemas.microsoft.com/office/drawing/2014/main" id="{55606A3E-EDF2-6543-88DE-CEC7E18EC834}"/>
              </a:ext>
            </a:extLst>
          </p:cNvPr>
          <p:cNvSpPr/>
          <p:nvPr/>
        </p:nvSpPr>
        <p:spPr>
          <a:xfrm rot="1728435">
            <a:off x="5257672" y="2280462"/>
            <a:ext cx="496634" cy="13959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Flecha abajo 12">
            <a:extLst>
              <a:ext uri="{FF2B5EF4-FFF2-40B4-BE49-F238E27FC236}">
                <a16:creationId xmlns:a16="http://schemas.microsoft.com/office/drawing/2014/main" id="{2FDEBFEB-E476-E14D-8E4E-57625F65F51F}"/>
              </a:ext>
            </a:extLst>
          </p:cNvPr>
          <p:cNvSpPr/>
          <p:nvPr/>
        </p:nvSpPr>
        <p:spPr>
          <a:xfrm rot="4022046">
            <a:off x="5978229" y="3390940"/>
            <a:ext cx="496634" cy="8922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887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/>
          <p:cNvSpPr>
            <a:spLocks noGrp="1"/>
          </p:cNvSpPr>
          <p:nvPr>
            <p:ph type="ctrTitle"/>
          </p:nvPr>
        </p:nvSpPr>
        <p:spPr>
          <a:xfrm>
            <a:off x="1573213" y="3000375"/>
            <a:ext cx="6172200" cy="1038225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ES" altLang="x-none" sz="2400" dirty="0">
                <a:solidFill>
                  <a:schemeClr val="bg1"/>
                </a:solidFill>
                <a:latin typeface="Museo Sans 900" charset="0"/>
              </a:rPr>
              <a:t>Aplicación web para la realización de experimentos de forma colaborativa en el framework JCLAL</a:t>
            </a:r>
          </a:p>
        </p:txBody>
      </p:sp>
      <p:sp>
        <p:nvSpPr>
          <p:cNvPr id="2051" name="Subtítulo 2"/>
          <p:cNvSpPr>
            <a:spLocks noGrp="1"/>
          </p:cNvSpPr>
          <p:nvPr>
            <p:ph type="subTitle" idx="1"/>
          </p:nvPr>
        </p:nvSpPr>
        <p:spPr>
          <a:xfrm>
            <a:off x="1573213" y="4302125"/>
            <a:ext cx="5715000" cy="7747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TESIS PRESENTADA EN OPCIÓN </a:t>
            </a:r>
          </a:p>
          <a:p>
            <a:pPr algn="l">
              <a:lnSpc>
                <a:spcPct val="100000"/>
              </a:lnSpc>
            </a:pPr>
            <a:r>
              <a:rPr lang="es-MX" altLang="x-none" sz="1800">
                <a:solidFill>
                  <a:schemeClr val="bg1"/>
                </a:solidFill>
                <a:latin typeface="Museo Sans 300" charset="0"/>
              </a:rPr>
              <a:t>AL TÍTULO DE INGENIERO INFORMÁTICO</a:t>
            </a:r>
          </a:p>
        </p:txBody>
      </p:sp>
      <p:sp>
        <p:nvSpPr>
          <p:cNvPr id="2052" name="Subtítulo 2"/>
          <p:cNvSpPr txBox="1">
            <a:spLocks/>
          </p:cNvSpPr>
          <p:nvPr/>
        </p:nvSpPr>
        <p:spPr bwMode="auto">
          <a:xfrm>
            <a:off x="1573213" y="5218113"/>
            <a:ext cx="5715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Autor: Ramón Alejandro Valdés Ochoa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Tutores: M.Sc. Eduardo Pérez Perdomo</a:t>
            </a:r>
          </a:p>
          <a:p>
            <a:pPr eaLnBrk="1" hangingPunct="1">
              <a:spcBef>
                <a:spcPts val="1000"/>
              </a:spcBef>
              <a:buFont typeface="Arial" charset="0"/>
              <a:buNone/>
            </a:pPr>
            <a:r>
              <a:rPr lang="es-MX" altLang="x-none" sz="1400" dirty="0">
                <a:solidFill>
                  <a:schemeClr val="bg1"/>
                </a:solidFill>
                <a:latin typeface="Museo Sans 500" charset="0"/>
              </a:rPr>
              <a:t>               M.Sc. Abel A. Fernández Higuera</a:t>
            </a:r>
          </a:p>
        </p:txBody>
      </p:sp>
      <p:pic>
        <p:nvPicPr>
          <p:cNvPr id="2053" name="Picture 56" descr="D:\Proyectos\Personal\UHo\APLICACIONES\HOJA CARTA\recursos\INFORMATICA MATEMATICA\Hoja-carta-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91440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233911"/>
      </p:ext>
    </p:extLst>
  </p:cSld>
  <p:clrMapOvr>
    <a:masterClrMapping/>
  </p:clrMapOvr>
</p:sld>
</file>

<file path=ppt/theme/theme1.xml><?xml version="1.0" encoding="utf-8"?>
<a:theme xmlns:a="http://schemas.openxmlformats.org/drawingml/2006/main" name="URBANO NORIS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D7B756E5-C50C-3843-8972-DA2FD6147738}" vid="{36E4A8AD-FBAC-9F4A-8B72-4C39906515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URBANO NORIS</Template>
  <TotalTime>2068</TotalTime>
  <Words>617</Words>
  <Application>Microsoft Macintosh PowerPoint</Application>
  <PresentationFormat>Presentación en pantalla (4:3)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Museo Sans 300</vt:lpstr>
      <vt:lpstr>Museo Sans 500</vt:lpstr>
      <vt:lpstr>Museo Sans 900</vt:lpstr>
      <vt:lpstr>Times New Roman</vt:lpstr>
      <vt:lpstr>URBANO NORIS</vt:lpstr>
      <vt:lpstr>Aplicación web para la realización de experimentos de forma colaborativa en el framework JCLAL</vt:lpstr>
      <vt:lpstr>Presentación de PowerPoint</vt:lpstr>
      <vt:lpstr>Active Learning (AL)</vt:lpstr>
      <vt:lpstr>Framework</vt:lpstr>
      <vt:lpstr>Algunnos Frameworks para ML</vt:lpstr>
      <vt:lpstr>JCLAL</vt:lpstr>
      <vt:lpstr>JCLAL</vt:lpstr>
      <vt:lpstr>Deficiencias</vt:lpstr>
      <vt:lpstr>Visual JCLAL</vt:lpstr>
      <vt:lpstr>Deficiencias</vt:lpstr>
      <vt:lpstr>Diseño de la investigación </vt:lpstr>
      <vt:lpstr>Diseño de la investigación </vt:lpstr>
      <vt:lpstr>Preguntas Científicas</vt:lpstr>
      <vt:lpstr>Tareas de Investigación</vt:lpstr>
      <vt:lpstr>Métodos de trabajo científico</vt:lpstr>
      <vt:lpstr>Requerimientos Funcionales</vt:lpstr>
      <vt:lpstr>Analisis de Sostenibilidad</vt:lpstr>
      <vt:lpstr>Aplicación web para la realización de experimentos de forma colaborativa en el framework JCLAL</vt:lpstr>
    </vt:vector>
  </TitlesOfParts>
  <Company/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web para la realización de experimentos de forma colaborativa en el framework JCLAL</dc:title>
  <dc:creator>Ramon Alejandro Valdes Ochoa</dc:creator>
  <cp:lastModifiedBy>Ramon Alejandro Valdes Ochoa</cp:lastModifiedBy>
  <cp:revision>14</cp:revision>
  <dcterms:created xsi:type="dcterms:W3CDTF">2018-12-09T13:25:04Z</dcterms:created>
  <dcterms:modified xsi:type="dcterms:W3CDTF">2018-12-11T20:28:38Z</dcterms:modified>
</cp:coreProperties>
</file>